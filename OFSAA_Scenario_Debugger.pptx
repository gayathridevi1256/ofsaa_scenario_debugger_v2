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1554480"/>
            <a:ext cx="384048" cy="384048"/>
          </a:xfrm>
          <a:prstGeom prst="ellipse">
            <a:avLst/>
          </a:prstGeom>
          <a:noFill/>
          <a:ln w="1524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58952" y="1572768"/>
            <a:ext cx="155448" cy="173736"/>
          </a:xfrm>
          <a:prstGeom prst="line">
            <a:avLst/>
          </a:prstGeom>
          <a:ln w="27940">
            <a:solidFill>
              <a:srgbClr val="B97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INTERNAL ENGINEERING ·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6212E"/>
                </a:solidFill>
                <a:latin typeface="Georgia"/>
              </a:rPr>
              <a:t>OFSAA Scenario Debugger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B5768"/>
                </a:solidFill>
                <a:latin typeface="Segoe UI"/>
              </a:rPr>
              <a:t>Why a scenario didn’t fire, traced through the real SQL — and, when the cause is a threshold, the smallest real change that fixes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C8797"/>
                </a:solidFill>
                <a:latin typeface="Consolas"/>
              </a:rPr>
              <a:t>FastAPI  ·  Next.js  ·  Oracle 19c  ·  a local LLM that never lets your data leave the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01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12E"/>
                </a:solidFill>
                <a:latin typeface="Georgia"/>
              </a:rPr>
              <a:t>A scenario returns zero alerts.
The query is 500 lines deep.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8778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768"/>
                </a:solidFill>
                <a:latin typeface="Segoe UI"/>
              </a:rPr>
              <a:t>OFSAA/Mantas AML scenarios compile down to nested CTEs, calendar-bound joins, and threshold parameters injected by name at run time. When a scenario goes quiet, finding out why has meant an analyst manually re-running fragments of that query by hand — guessing which condition, a WHERE, a HAVING, a configured cutoff, is the one eliminating every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34840"/>
            <a:ext cx="7863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/>
          <a:lstStyle/>
          <a:p>
            <a:pPr algn="ctr">
              <a:lnSpc>
                <a:spcPct val="135000"/>
              </a:lnSpc>
            </a:pPr>
            <a:r>
              <a:rPr sz="1250">
                <a:solidFill>
                  <a:srgbClr val="4B5768"/>
                </a:solidFill>
                <a:latin typeface="Consolas"/>
              </a:rPr>
              <a:t>One real scenario in production use here: 620 lines of dataset SQL, 42 configured thresholds, six nested reference views. Tracing that by hand takes an afternoon. It shouldn’t.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34840"/>
            <a:ext cx="54864" cy="1051560"/>
          </a:xfrm>
          <a:prstGeom prst="rect">
            <a:avLst/>
          </a:prstGeom>
          <a:solidFill>
            <a:srgbClr val="B97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HOW IT TRACES A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12E"/>
                </a:solidFill>
                <a:latin typeface="Georgia"/>
              </a:rPr>
              <a:t>One log file in. One root cause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583" y="23317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Upload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.log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583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3071" y="23317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Extract SQL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+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3071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559" y="23317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Set batch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1559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0047" y="23317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Run full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dataset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047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8535" y="2331720"/>
            <a:ext cx="1371600" cy="777240"/>
          </a:xfrm>
          <a:prstGeom prst="rect">
            <a:avLst/>
          </a:prstGeom>
          <a:solidFill>
            <a:srgbClr val="EFD6D0"/>
          </a:solidFill>
          <a:ln w="12700">
            <a:solidFill>
              <a:srgbClr val="A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23B2E"/>
                </a:solidFill>
                <a:latin typeface="Segoe UI"/>
              </a:rPr>
              <a:t>Split &amp; run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A23B2E"/>
                </a:solidFill>
                <a:latin typeface="Segoe UI"/>
              </a:rPr>
              <a:t>each CTE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8535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7023" y="23317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Root cause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identified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7023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65511" y="2331720"/>
            <a:ext cx="1371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AI note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12E"/>
                </a:solidFill>
                <a:latin typeface="Segoe UI"/>
              </a:rPr>
              <a:t>+ PDF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5511" y="207568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7"/>
                </a:solidFill>
                <a:latin typeface="Consolas"/>
              </a:rPr>
              <a:t>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6183" y="2720340"/>
            <a:ext cx="246888" cy="0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26183" y="2057400"/>
            <a:ext cx="246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B5768"/>
                </a:solidFill>
                <a:latin typeface="Consolas"/>
              </a:rPr>
              <a:t>reads log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44671" y="2720340"/>
            <a:ext cx="246888" cy="0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44671" y="2057400"/>
            <a:ext cx="246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B5768"/>
                </a:solidFill>
                <a:latin typeface="Consolas"/>
              </a:rPr>
              <a:t>SSH sets date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63159" y="2720340"/>
            <a:ext cx="246888" cy="0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3159" y="2057400"/>
            <a:ext cx="246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B5768"/>
                </a:solidFill>
                <a:latin typeface="Consolas"/>
              </a:rPr>
              <a:t>confirmed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81647" y="2720340"/>
            <a:ext cx="246888" cy="0"/>
          </a:xfrm>
          <a:prstGeom prst="line">
            <a:avLst/>
          </a:prstGeom>
          <a:ln w="15875">
            <a:solidFill>
              <a:srgbClr val="A23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81647" y="2057400"/>
            <a:ext cx="246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23B2E"/>
                </a:solidFill>
                <a:latin typeface="Consolas"/>
              </a:rPr>
              <a:t>0 rows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00135" y="2720340"/>
            <a:ext cx="246888" cy="0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00135" y="2057400"/>
            <a:ext cx="246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B5768"/>
                </a:solidFill>
                <a:latin typeface="Consolas"/>
              </a:rPr>
              <a:t>isolates cause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18623" y="2720340"/>
            <a:ext cx="246888" cy="0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18623" y="2057400"/>
            <a:ext cx="246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B5768"/>
                </a:solidFill>
                <a:latin typeface="Consolas"/>
              </a:rPr>
              <a:t>prose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1082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23B2E"/>
                </a:solidFill>
                <a:latin typeface="Consolas"/>
              </a:rPr>
              <a:t>only when the full query comes back empty — otherwise the run ends at step 04, alerts generated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06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C8797"/>
                </a:solidFill>
                <a:latin typeface="Segoe UI"/>
              </a:rPr>
              <a:t>Every step runs against the real environment — the same SSH batch control and the same Oracle schema the scenario itself uses in production. Nothing here is simulated.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FROM DIAGNOSIS TO A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12E"/>
                </a:solidFill>
                <a:latin typeface="Georgia"/>
              </a:rPr>
              <a:t>If the cause is a threshold,
don’t stop at knowing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B5768"/>
                </a:solidFill>
                <a:latin typeface="Segoe UI"/>
              </a:rPr>
              <a:t>When root-cause diagnosis lands on a THRESHOLD_KILL — a configured cutoff eliminating every row — a button on that same job carries the log straight into a standalone Threshold Tuning workflow. No re-upload, no re-typing the scenario. Threshold Tuning also opens on its own, any time a bank team wants to review or recalibrate a scenario’s configured values, with no failing job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2121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212E"/>
                </a:solidFill>
                <a:latin typeface="Consolas"/>
              </a:rPr>
              <a:t>Job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4343400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8797"/>
                </a:solidFill>
                <a:latin typeface="Consola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5808" y="4343400"/>
            <a:ext cx="2249424" cy="502920"/>
          </a:xfrm>
          <a:prstGeom prst="rect">
            <a:avLst/>
          </a:prstGeom>
          <a:solidFill>
            <a:srgbClr val="EFD6D0"/>
          </a:solidFill>
          <a:ln w="12700">
            <a:solidFill>
              <a:srgbClr val="A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23B2E"/>
                </a:solidFill>
                <a:latin typeface="Consolas"/>
              </a:rPr>
              <a:t>THRESHOLD_KILL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232" y="4343400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8797"/>
                </a:solidFill>
                <a:latin typeface="Consola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4343400"/>
            <a:ext cx="3145536" cy="502920"/>
          </a:xfrm>
          <a:prstGeom prst="rect">
            <a:avLst/>
          </a:prstGeom>
          <a:solidFill>
            <a:srgbClr val="ECD3AC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430F"/>
                </a:solidFill>
                <a:latin typeface="Consolas"/>
              </a:rPr>
              <a:t>Tune These 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4343400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8797"/>
                </a:solidFill>
                <a:latin typeface="Consola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2288" y="4343400"/>
            <a:ext cx="4553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212E"/>
                </a:solidFill>
                <a:latin typeface="Consolas"/>
              </a:rPr>
              <a:t>Threshold Tuning · same log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HOW THRESHOLD TUNING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12E"/>
                </a:solidFill>
                <a:latin typeface="Georgia"/>
              </a:rPr>
              <a:t>Every recommended value is checked against the real query before it’s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B5768"/>
                </a:solidFill>
                <a:latin typeface="Segoe UI"/>
              </a:rPr>
              <a:t>Reads the scenario’s current values, then executes the REAL dataset query for the REAL current alert count — not an estimate. What happens next depends on that number, and on whether each threshold's column can actually be sampled from the real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20574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12E"/>
                </a:solidFill>
                <a:latin typeface="Consolas"/>
              </a:rPr>
              <a:t>Real alert count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212E"/>
                </a:solidFill>
                <a:latin typeface="Consolas"/>
              </a:rPr>
              <a:t>(from the actual query)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537460" y="2560320"/>
            <a:ext cx="3101187" cy="228600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047" y="2560320"/>
            <a:ext cx="3101188" cy="228600"/>
          </a:xfrm>
          <a:prstGeom prst="line">
            <a:avLst/>
          </a:prstGeom>
          <a:ln w="15875">
            <a:solidFill>
              <a:srgbClr val="A23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B5768"/>
                </a:solidFill>
                <a:latin typeface="Consolas"/>
              </a:rPr>
              <a:t>alerts &gt;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495" y="257860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23B2E"/>
                </a:solidFill>
                <a:latin typeface="Consolas"/>
              </a:rPr>
              <a:t>alerts =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3246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12E"/>
                </a:solidFill>
                <a:latin typeface="Consolas"/>
              </a:rPr>
              <a:t>TIGHTEN — binary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8269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Candidate values tried between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current and the legal ceiling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49624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No target set: largest safe move.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Target % set: smallest move that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still reaches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175" y="2788920"/>
            <a:ext cx="3246120" cy="384048"/>
          </a:xfrm>
          <a:prstGeom prst="rect">
            <a:avLst/>
          </a:prstGeom>
          <a:solidFill>
            <a:srgbClr val="EFD6D0"/>
          </a:solidFill>
          <a:ln w="12700">
            <a:solidFill>
              <a:srgbClr val="A2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23B2E"/>
                </a:solidFill>
                <a:latin typeface="Consolas"/>
              </a:rPr>
              <a:t>LOOSEN — nice-rounded boundary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1175" y="328269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Rounds just past the real max/min,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clamped inside the legal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1175" y="3849624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No single record clears every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condition? Calibrate to one real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12E"/>
                </a:solidFill>
                <a:latin typeface="Segoe UI"/>
              </a:rPr>
              <a:t>record’s own values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37460" y="4416552"/>
            <a:ext cx="3284067" cy="658368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370167" y="4416552"/>
            <a:ext cx="3284068" cy="658368"/>
          </a:xfrm>
          <a:prstGeom prst="line">
            <a:avLst/>
          </a:prstGeom>
          <a:ln w="15875">
            <a:solidFill>
              <a:srgbClr val="1621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92727" y="5074920"/>
            <a:ext cx="4206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12E"/>
                </a:solidFill>
                <a:latin typeface="Segoe UI"/>
              </a:rPr>
              <a:t>Substituted into the real query, re-executed — verified 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3520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2B6C4F"/>
                </a:solidFill>
                <a:latin typeface="Consolas"/>
              </a:rPr>
              <a:t>RESOLVED &amp; VERIFIED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4B5768"/>
                </a:solidFill>
                <a:latin typeface="Segoe UI"/>
              </a:rPr>
              <a:t>A concrete recommended value, checked by a real re-execution — the path above.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8" y="5806440"/>
            <a:ext cx="3520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7C8797"/>
                </a:solidFill>
                <a:latin typeface="Consolas"/>
              </a:rPr>
              <a:t>DATA INSUFFICIENT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4B5768"/>
                </a:solidFill>
                <a:latin typeface="Segoe UI"/>
              </a:rPr>
              <a:t>The column can’t be resolved or sampled from the real query. No number is guessed.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08976" y="5806440"/>
            <a:ext cx="3520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 tIns="76200" bIns="50800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A23B2E"/>
                </a:solidFill>
                <a:latin typeface="Consolas"/>
              </a:rPr>
              <a:t>ESCALATE</a:t>
            </a:r>
          </a:p>
          <a:p>
            <a:pPr>
              <a:lnSpc>
                <a:spcPct val="120000"/>
              </a:lnSpc>
            </a:pPr>
            <a:r>
              <a:rPr sz="950">
                <a:solidFill>
                  <a:srgbClr val="4B5768"/>
                </a:solidFill>
                <a:latin typeface="Segoe UI"/>
              </a:rPr>
              <a:t>Sampled fine, but no value in the bank’s own range works. A range-widening decision, not a code fix.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WHAT'S ACTUALLY 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12E"/>
                </a:solidFill>
                <a:latin typeface="Georgia"/>
              </a:rPr>
              <a:t>Four calculations, all run against real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27000" tIns="101600" bIns="7620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16212E"/>
                </a:solidFill>
                <a:latin typeface="Consolas"/>
              </a:rPr>
              <a:t>POPULATION STATS — shared input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MIN(col), MAX(col), AVG(col),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PERCENTILE_CONT(.10/.25/.50/.75/.90)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WITHIN GROUP (ORDER BY col)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— run over the FULL real result set,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not the 10-row preview sample.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0292" cy="2331720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27000" tIns="101600" bIns="7620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2B6C4F"/>
                </a:solidFill>
                <a:latin typeface="Consolas"/>
              </a:rPr>
              <a:t>TIGHTEN — binary search  (alerts &gt; 0)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lo = current value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hi = configured ceiling (KDD_TSHLD)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each candidate substituted in, re-executed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for its OWN real alert count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no target → largest value that still avoids zero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target % → smallest move whose count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  ≤ current_count × (1 − target%)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0292" cy="2331720"/>
          </a:xfrm>
          <a:prstGeom prst="rect">
            <a:avLst/>
          </a:prstGeom>
          <a:solidFill>
            <a:srgbClr val="2B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50208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27000" tIns="101600" bIns="7620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A23B2E"/>
                </a:solidFill>
                <a:latin typeface="Consolas"/>
              </a:rPr>
              <a:t>LOOSEN — nice-round + clamp  (alerts = 0)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candidate = nice_floor(actual_max)  [&gt;=, &gt;]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         or nice_ceil(actual_min)   [&lt;=, &lt;]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— rounds to the nearest 1/2/5/10 step,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never past the real observed boundary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clamp candidate into [KDD_TSHLD min, max]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gap_ratio = threshold ÷ actual_max (or inverse)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≥ 5× → extreme gap, flagged for business review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clamp overshoots boundary → escalate, no fix in range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50208"/>
            <a:ext cx="50292" cy="2331720"/>
          </a:xfrm>
          <a:prstGeom prst="rect">
            <a:avLst/>
          </a:prstGeom>
          <a:solidFill>
            <a:srgbClr val="A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950208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27000" tIns="101600" bIns="7620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6F430F"/>
                </a:solidFill>
                <a:latin typeface="Consolas"/>
              </a:rPr>
              <a:t>PER-ROW FALLBACK — when population values still net to 0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pulls every blocking threshold's raw column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value, per real row, in one query (shared source)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calibrates the WHOLE candidate set against ONE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record's own values across all its conditions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tried record-by-record, up to 25 real rows,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969">
                <a:solidFill>
                  <a:srgbClr val="4B5768"/>
                </a:solidFill>
                <a:latin typeface="Consolas"/>
              </a:rPr>
              <a:t>until a re-executed count is verified &gt;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50208"/>
            <a:ext cx="50292" cy="2331720"/>
          </a:xfrm>
          <a:prstGeom prst="rect">
            <a:avLst/>
          </a:prstGeom>
          <a:solidFill>
            <a:srgbClr val="6F4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WHY TRUST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12E"/>
                </a:solidFill>
                <a:latin typeface="Georgia"/>
              </a:rPr>
              <a:t>The model writes sentences.
Python does the arithmetic.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331720"/>
            <a:ext cx="10241280" cy="0"/>
          </a:xfrm>
          <a:prstGeom prst="line">
            <a:avLst/>
          </a:prstGeom>
          <a:ln w="9525">
            <a:solidFill>
              <a:srgbClr val="DD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421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430F"/>
                </a:solidFill>
                <a:latin typeface="Consolas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66856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6212E"/>
                </a:solidFill>
                <a:latin typeface="Segoe UI"/>
              </a:rPr>
              <a:t>Ollama, on this machine. </a:t>
            </a:r>
            <a:r>
              <a:rPr sz="1300">
                <a:solidFill>
                  <a:srgbClr val="4B5768"/>
                </a:solidFill>
                <a:latin typeface="Segoe UI"/>
              </a:rPr>
              <a:t>Nothing about a scenario or its data leaves the environment to generate a recommendation.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291840"/>
            <a:ext cx="10241280" cy="0"/>
          </a:xfrm>
          <a:prstGeom prst="line">
            <a:avLst/>
          </a:prstGeom>
          <a:ln w="9525">
            <a:solidFill>
              <a:srgbClr val="DD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38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430F"/>
                </a:solidFill>
                <a:latin typeface="Consolas"/>
              </a:rPr>
              <a:t>DETERMINISTIC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26976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6212E"/>
                </a:solidFill>
                <a:latin typeface="Segoe UI"/>
              </a:rPr>
              <a:t>Every recommended value is computed in Python </a:t>
            </a:r>
            <a:r>
              <a:rPr sz="1300">
                <a:solidFill>
                  <a:srgbClr val="4B5768"/>
                </a:solidFill>
                <a:latin typeface="Segoe UI"/>
              </a:rPr>
              <a:t>from real sampled data and clamped to the bank’s own configured range. The model is never asked to propose a number.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51960"/>
            <a:ext cx="10241280" cy="0"/>
          </a:xfrm>
          <a:prstGeom prst="line">
            <a:avLst/>
          </a:prstGeom>
          <a:ln w="9525">
            <a:solidFill>
              <a:srgbClr val="DD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3419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430F"/>
                </a:solidFill>
                <a:latin typeface="Consolas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87096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6212E"/>
                </a:solidFill>
                <a:latin typeface="Segoe UI"/>
              </a:rPr>
              <a:t>Every projected alert count is a real re-execution </a:t>
            </a:r>
            <a:r>
              <a:rPr sz="1300">
                <a:solidFill>
                  <a:srgbClr val="4B5768"/>
                </a:solidFill>
                <a:latin typeface="Segoe UI"/>
              </a:rPr>
              <a:t>against Oracle — never an estimate, never taken on faith.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212080"/>
            <a:ext cx="10241280" cy="0"/>
          </a:xfrm>
          <a:prstGeom prst="line">
            <a:avLst/>
          </a:prstGeom>
          <a:ln w="9525">
            <a:solidFill>
              <a:srgbClr val="DD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302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430F"/>
                </a:solidFill>
                <a:latin typeface="Consolas"/>
              </a:rPr>
              <a:t>CONSISTENT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247216"/>
            <a:ext cx="8778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6212E"/>
                </a:solidFill>
                <a:latin typeface="Segoe UI"/>
              </a:rPr>
              <a:t>The PDF report carries the same figures shown on screen. </a:t>
            </a:r>
            <a:r>
              <a:rPr sz="1300">
                <a:solidFill>
                  <a:srgbClr val="4B5768"/>
                </a:solidFill>
                <a:latin typeface="Segoe UI"/>
              </a:rPr>
              <a:t>Nothing is re-derived for the document.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172200"/>
            <a:ext cx="10241280" cy="0"/>
          </a:xfrm>
          <a:prstGeom prst="line">
            <a:avLst/>
          </a:prstGeom>
          <a:ln w="9525">
            <a:solidFill>
              <a:srgbClr val="DD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430F"/>
                </a:solidFill>
                <a:latin typeface="Consolas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840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C8797"/>
                </a:solidFill>
                <a:latin typeface="Consolas"/>
              </a:rP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12E"/>
                </a:solidFill>
                <a:latin typeface="Georgia"/>
              </a:rPr>
              <a:t>Built on the same rails
the scenario runs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/>
            <a:r>
              <a:rPr sz="850">
                <a:solidFill>
                  <a:srgbClr val="7C8797"/>
                </a:solidFill>
                <a:latin typeface="Consolas"/>
              </a:rPr>
              <a:t>BACKEND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6212E"/>
                </a:solidFill>
                <a:latin typeface="Georgia"/>
              </a:rPr>
              <a:t>FastAPI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3317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/>
            <a:r>
              <a:rPr sz="850">
                <a:solidFill>
                  <a:srgbClr val="7C8797"/>
                </a:solidFill>
                <a:latin typeface="Consolas"/>
              </a:rPr>
              <a:t>FRONTEND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6212E"/>
                </a:solidFill>
                <a:latin typeface="Georgia"/>
              </a:rPr>
              <a:t>Next.js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3317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/>
            <a:r>
              <a:rPr sz="850">
                <a:solidFill>
                  <a:srgbClr val="7C8797"/>
                </a:solidFill>
                <a:latin typeface="Consolas"/>
              </a:rPr>
              <a:t>SCENARIO DATA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6212E"/>
                </a:solidFill>
                <a:latin typeface="Georgia"/>
              </a:rPr>
              <a:t>Oracle 19c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3317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/>
            <a:r>
              <a:rPr sz="850">
                <a:solidFill>
                  <a:srgbClr val="7C8797"/>
                </a:solidFill>
                <a:latin typeface="Consolas"/>
              </a:rPr>
              <a:t>RECOMMENDATIONS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6212E"/>
                </a:solidFill>
                <a:latin typeface="Georgia"/>
              </a:rPr>
              <a:t>Ollama · Llama 3.1 8B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3317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27000"/>
          <a:lstStyle/>
          <a:p>
            <a:pPr algn="ctr"/>
            <a:r>
              <a:rPr sz="850">
                <a:solidFill>
                  <a:srgbClr val="7C8797"/>
                </a:solidFill>
                <a:latin typeface="Consolas"/>
              </a:rPr>
              <a:t>BATCH CONTROL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6212E"/>
                </a:solidFill>
                <a:latin typeface="Georgia"/>
              </a:rPr>
              <a:t>SSH · paramiko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6212E"/>
                </a:solidFill>
                <a:latin typeface="Georgia"/>
              </a:rPr>
              <a:t>Built to answer one question honestly: what, exactly, is stopping this scenario — and what’s the smallest real change that fixes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